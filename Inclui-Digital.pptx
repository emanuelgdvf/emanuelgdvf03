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66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325896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57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A89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Inclui</a:t>
            </a:r>
            <a:r>
              <a:rPr lang="en-US" sz="4400" b="1" dirty="0">
                <a:solidFill>
                  <a:srgbClr val="5F5E5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</a:t>
            </a:r>
            <a:r>
              <a:rPr lang="en-US" sz="4400" b="1" dirty="0">
                <a:solidFill>
                  <a:srgbClr val="3ECF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 para todos, sem exceção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 Bimestral — Educação Digital e Midiática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8346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0B4"/>
                </a:solidFill>
              </a:rPr>
              <a:t>Inclusão Social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68880" y="283464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28346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0B4"/>
                </a:solidFill>
              </a:rPr>
              <a:t>Inclusão Digital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80560" y="283464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28346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0B4"/>
                </a:solidFill>
              </a:rPr>
              <a:t>Acessibilidade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92240" y="283464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8346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0B4"/>
                </a:solidFill>
              </a:rPr>
              <a:t>Gratuito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A3D4A"/>
                </a:solidFill>
              </a:rPr>
              <a:t>01 / 07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20040"/>
            <a:ext cx="1645920" cy="292608"/>
          </a:xfrm>
          <a:prstGeom prst="roundRect">
            <a:avLst>
              <a:gd name="adj" fmla="val 50000"/>
            </a:avLst>
          </a:prstGeom>
          <a:solidFill>
            <a:srgbClr val="1C1933"/>
          </a:solidFill>
          <a:ln w="6350">
            <a:solidFill>
              <a:srgbClr val="3A2F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9DFF"/>
                </a:solidFill>
              </a:rPr>
              <a:t>Objetivo do projeto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A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 que criamos o Inclui-Digital?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57200" y="155448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Criar uma plataforma web gratuita que auxilie na inclusão social e digital de pessoas com deficiência e comunidades em situação de vulnerabilidade, oferecendo cursos, comunidade e recursos de acessibilidade.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A3D4A"/>
                </a:solidFill>
              </a:rPr>
              <a:t>02 / 07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378ADD"/>
          </a:solidFill>
          <a:ln w="12700">
            <a:solidFill>
              <a:srgbClr val="378AD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2004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111A2B"/>
          </a:solidFill>
          <a:ln w="6350">
            <a:solidFill>
              <a:srgbClr val="1E3A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78ADD"/>
                </a:solidFill>
              </a:rPr>
              <a:t>Apps parecidos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A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Quem já faz algo parecido?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554480"/>
            <a:ext cx="2651760" cy="2606040"/>
          </a:xfrm>
          <a:prstGeom prst="roundRect">
            <a:avLst>
              <a:gd name="adj" fmla="val 12000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27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A0B4"/>
                </a:solidFill>
              </a:rPr>
              <a:t>Plataforma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 Academy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91840" y="1554480"/>
            <a:ext cx="2651760" cy="2606040"/>
          </a:xfrm>
          <a:prstGeom prst="roundRect">
            <a:avLst>
              <a:gd name="adj" fmla="val 12000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627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A0B4"/>
                </a:solidFill>
              </a:rPr>
              <a:t>Plataforma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Coursera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126480" y="1554480"/>
            <a:ext cx="2651760" cy="2606040"/>
          </a:xfrm>
          <a:prstGeom prst="roundRect">
            <a:avLst>
              <a:gd name="adj" fmla="val 12000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16276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A0B4"/>
                </a:solidFill>
              </a:rPr>
              <a:t>Plataforma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0" y="1920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Talk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" y="41605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deles combina cursos + comunidade + filtros de acessibilidade em um único lugar gratuito.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77240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A3D4A"/>
                </a:solidFill>
              </a:rPr>
              <a:t>03 / 07</a:t>
            </a:r>
            <a:endParaRPr lang="en-US" sz="1000" dirty="0"/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0A14E8CA-49D2-4791-AFFB-9F125B3823EC}"/>
              </a:ext>
            </a:extLst>
          </p:cNvPr>
          <p:cNvSpPr txBox="1"/>
          <p:nvPr/>
        </p:nvSpPr>
        <p:spPr>
          <a:xfrm>
            <a:off x="767808" y="2526190"/>
            <a:ext cx="203054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pt-BR" sz="1400" b="0" i="0" dirty="0">
                <a:solidFill>
                  <a:srgbClr val="E6E8F0"/>
                </a:solidFill>
                <a:effectLst/>
                <a:latin typeface="Google Sans"/>
              </a:rPr>
              <a:t> A plataforma carece de professores ao vivo e feedback imediato de um instrutor, o que pode limitar o suporte personalizado.</a:t>
            </a:r>
            <a:endParaRPr lang="en-US" sz="1400" dirty="0"/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C4BD6E6E-8C58-4C7A-B85E-2ACD604BB17F}"/>
              </a:ext>
            </a:extLst>
          </p:cNvPr>
          <p:cNvSpPr txBox="1"/>
          <p:nvPr/>
        </p:nvSpPr>
        <p:spPr>
          <a:xfrm>
            <a:off x="3701081" y="2542633"/>
            <a:ext cx="183327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pt-BR" sz="1400" b="0" i="0" dirty="0">
                <a:solidFill>
                  <a:srgbClr val="E6E8F0"/>
                </a:solidFill>
                <a:effectLst/>
                <a:latin typeface="Google Sans"/>
              </a:rPr>
              <a:t>Os modelos de assinatura que podem variar de 30 a 80 dólares por mês, o que causa limitações do uso do app.</a:t>
            </a:r>
            <a:endParaRPr lang="en-US" sz="1400" dirty="0"/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52B23512-F580-4B5F-9F6C-DAD1A82CDAFF}"/>
              </a:ext>
            </a:extLst>
          </p:cNvPr>
          <p:cNvSpPr txBox="1"/>
          <p:nvPr/>
        </p:nvSpPr>
        <p:spPr>
          <a:xfrm>
            <a:off x="6501284" y="2575189"/>
            <a:ext cx="202574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pt-BR" sz="1400" b="0" i="0" dirty="0">
                <a:solidFill>
                  <a:srgbClr val="E6E8F0"/>
                </a:solidFill>
                <a:effectLst/>
                <a:latin typeface="Google Sans"/>
              </a:rPr>
              <a:t>O avatar frequentemente </a:t>
            </a:r>
            <a:r>
              <a:rPr lang="pt-BR" sz="1400" b="0" i="0" dirty="0">
                <a:solidFill>
                  <a:srgbClr val="E6E8F0"/>
                </a:solidFill>
                <a:effectLst/>
                <a:latin typeface="Calibri (corpo)"/>
              </a:rPr>
              <a:t>traduz</a:t>
            </a:r>
            <a:r>
              <a:rPr lang="pt-BR" sz="1400" b="0" i="0" dirty="0">
                <a:solidFill>
                  <a:srgbClr val="E6E8F0"/>
                </a:solidFill>
                <a:effectLst/>
                <a:latin typeface="Google Sans"/>
              </a:rPr>
              <a:t> o português de </a:t>
            </a:r>
            <a:r>
              <a:rPr lang="pt-BR" sz="1400" b="0" i="0" dirty="0">
                <a:solidFill>
                  <a:srgbClr val="E6E8F0"/>
                </a:solidFill>
                <a:effectLst/>
                <a:latin typeface="Calibri (corpo)"/>
              </a:rPr>
              <a:t>forma</a:t>
            </a:r>
            <a:r>
              <a:rPr lang="pt-BR" sz="1400" b="0" i="0" dirty="0">
                <a:solidFill>
                  <a:srgbClr val="E6E8F0"/>
                </a:solidFill>
                <a:effectLst/>
                <a:latin typeface="Google Sans"/>
              </a:rPr>
              <a:t> </a:t>
            </a:r>
            <a:r>
              <a:rPr lang="pt-BR" sz="1400" b="0" i="0" dirty="0">
                <a:solidFill>
                  <a:srgbClr val="E6E8F0"/>
                </a:solidFill>
                <a:effectLst/>
                <a:latin typeface="Calibri (corpo)"/>
              </a:rPr>
              <a:t>literal</a:t>
            </a:r>
            <a:r>
              <a:rPr lang="pt-BR" sz="1400" b="0" i="0" dirty="0">
                <a:solidFill>
                  <a:srgbClr val="E6E8F0"/>
                </a:solidFill>
                <a:effectLst/>
                <a:latin typeface="Google Sans"/>
              </a:rPr>
              <a:t>, sem seguir a gramática e sintaxe corretas da Libras.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3ECFAA"/>
          </a:solidFill>
          <a:ln w="12700">
            <a:solidFill>
              <a:srgbClr val="3ECF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2004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0D2820"/>
          </a:solidFill>
          <a:ln w="6350">
            <a:solidFill>
              <a:srgbClr val="1A5C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ECFAA"/>
                </a:solidFill>
              </a:rPr>
              <a:t>Diferenciais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A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nos torna únicos?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947672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02082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9AA0B4"/>
                </a:solidFill>
              </a:rPr>
              <a:t>Diferencial</a:t>
            </a:r>
            <a:r>
              <a:rPr lang="en-US" sz="1000" dirty="0">
                <a:solidFill>
                  <a:srgbClr val="9AA0B4"/>
                </a:solidFill>
              </a:rPr>
              <a:t> 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 de daltonismo integrados ao site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947672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202082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9AA0B4"/>
                </a:solidFill>
              </a:rPr>
              <a:t>Diferencial</a:t>
            </a:r>
            <a:r>
              <a:rPr lang="en-US" sz="1000" dirty="0">
                <a:solidFill>
                  <a:srgbClr val="9AA0B4"/>
                </a:solidFill>
              </a:rPr>
              <a:t>  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54880" y="23317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gratuito, sem anúncios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136392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20954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9AA0B4"/>
                </a:solidFill>
              </a:rPr>
              <a:t>Diferencial</a:t>
            </a:r>
            <a:r>
              <a:rPr lang="en-US" sz="1000" dirty="0">
                <a:solidFill>
                  <a:srgbClr val="9AA0B4"/>
                </a:solidFill>
              </a:rPr>
              <a:t> 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520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 ativa de apoio mútuo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54880" y="3136392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320954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 err="1">
                <a:solidFill>
                  <a:srgbClr val="9AA0B4"/>
                </a:solidFill>
              </a:rPr>
              <a:t>Diferencial</a:t>
            </a:r>
            <a:r>
              <a:rPr lang="en-US" sz="1000" dirty="0">
                <a:solidFill>
                  <a:srgbClr val="9AA0B4"/>
                </a:solidFill>
              </a:rPr>
              <a:t>  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35204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simples para iniciantes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A3D4A"/>
                </a:solidFill>
              </a:rPr>
              <a:t>04 / 07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EF9F27"/>
          </a:solidFill>
          <a:ln w="12700">
            <a:solidFill>
              <a:srgbClr val="EF9F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2004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201500"/>
          </a:solidFill>
          <a:ln w="6350">
            <a:solidFill>
              <a:srgbClr val="5A3A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F9F27"/>
                </a:solidFill>
              </a:rPr>
              <a:t>Público-alvo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EA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 quem é o Inclui-Digital?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89738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9705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A0B4"/>
                </a:solidFill>
              </a:rPr>
              <a:t>Grupo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2814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com deficiência visual, auditiva ou motora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54880" y="189738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0" y="19705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A0B4"/>
                </a:solidFill>
              </a:rPr>
              <a:t>Grupo 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754880" y="22814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Comunidades carentes com pouco acesso à tecnologia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08610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1592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A0B4"/>
                </a:solidFill>
              </a:rPr>
              <a:t>Grupo 3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34701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Idosos aprendendo tecnologia pela primeira vez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754880" y="3086100"/>
            <a:ext cx="4023360" cy="1005840"/>
          </a:xfrm>
          <a:prstGeom prst="roundRect">
            <a:avLst>
              <a:gd name="adj" fmla="val 10909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31592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A0B4"/>
                </a:solidFill>
              </a:rPr>
              <a:t>Grupo 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754880" y="347014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com daltonismo (filtros dedicados)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77240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A3D4A"/>
                </a:solidFill>
              </a:rPr>
              <a:t>05 / 07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3ECFAA"/>
          </a:solidFill>
          <a:ln w="12700">
            <a:solidFill>
              <a:srgbClr val="3ECFA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20040"/>
            <a:ext cx="2103120" cy="292608"/>
          </a:xfrm>
          <a:prstGeom prst="roundRect">
            <a:avLst>
              <a:gd name="adj" fmla="val 50000"/>
            </a:avLst>
          </a:prstGeom>
          <a:solidFill>
            <a:srgbClr val="0D2820"/>
          </a:solidFill>
          <a:ln w="6350">
            <a:solidFill>
              <a:srgbClr val="1A5C4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ECFAA"/>
                </a:solidFill>
              </a:rPr>
              <a:t>Benefícios e limitações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777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E8EA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que o site promove — e o que ainda falta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1508760"/>
            <a:ext cx="4023360" cy="2743200"/>
          </a:xfrm>
          <a:prstGeom prst="roundRect">
            <a:avLst>
              <a:gd name="adj" fmla="val 4000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276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ECFAA"/>
                </a:solidFill>
              </a:rPr>
              <a:t>Benefícios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02996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Acesso gratuito ao conhecimento digital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5968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Conexão entre pessoas excluídas digitalmente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1638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Acessibilidade real para daltônicos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63440" y="1508760"/>
            <a:ext cx="4023360" cy="2743200"/>
          </a:xfrm>
          <a:prstGeom prst="roundRect">
            <a:avLst>
              <a:gd name="adj" fmla="val 4000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16276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4B4A"/>
                </a:solidFill>
              </a:rPr>
              <a:t>Limitações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202996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app mobile (</a:t>
            </a:r>
            <a:r>
              <a:rPr lang="en-US" sz="1300" dirty="0" err="1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enquanto</a:t>
            </a: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46320" y="25968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Conteúdo ainda em construção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46320" y="316382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Requer internet para acesso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A3D4A"/>
                </a:solidFill>
              </a:rPr>
              <a:t>06 / 07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6C63FF"/>
          </a:solidFill>
          <a:ln w="12700">
            <a:solidFill>
              <a:srgbClr val="6C63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2004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1C1933"/>
          </a:solidFill>
          <a:ln w="6350">
            <a:solidFill>
              <a:srgbClr val="3A2F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9DFF"/>
                </a:solidFill>
              </a:rPr>
              <a:t>Conclusão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8EA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 </a:t>
            </a:r>
            <a:r>
              <a:rPr lang="en-US" sz="2800" b="1" dirty="0">
                <a:solidFill>
                  <a:srgbClr val="A89D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Inclui</a:t>
            </a:r>
            <a:r>
              <a:rPr lang="en-US" sz="2800" b="1" dirty="0">
                <a:solidFill>
                  <a:srgbClr val="5F5E5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</a:t>
            </a:r>
            <a:r>
              <a:rPr lang="en-US" sz="2800" b="1" dirty="0">
                <a:solidFill>
                  <a:srgbClr val="3ECF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Digital</a:t>
            </a:r>
            <a:r>
              <a:rPr lang="en-US" sz="2800" b="1" dirty="0">
                <a:solidFill>
                  <a:srgbClr val="E8EA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é para quem</a:t>
            </a:r>
            <a:endParaRPr lang="en-US" sz="2800" dirty="0"/>
          </a:p>
          <a:p>
            <a:pPr marL="0" indent="0">
              <a:buNone/>
            </a:pPr>
            <a:r>
              <a:rPr lang="en-US" sz="2800" b="1" dirty="0">
                <a:solidFill>
                  <a:srgbClr val="E8EAF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internet ainda esqueceu.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site gratuito, acessível e pensado para quem mais precisa de inclusão digital.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329184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329184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9AA0B4"/>
                </a:solidFill>
              </a:rPr>
              <a:t>Apresentação</a:t>
            </a:r>
            <a:r>
              <a:rPr lang="en-US" sz="1100" dirty="0">
                <a:solidFill>
                  <a:srgbClr val="9AA0B4"/>
                </a:solidFill>
              </a:rPr>
              <a:t>: 24/04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68880" y="3291840"/>
            <a:ext cx="2560320" cy="347472"/>
          </a:xfrm>
          <a:prstGeom prst="roundRect">
            <a:avLst>
              <a:gd name="adj" fmla="val 50000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32918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9AA0B4"/>
                </a:solidFill>
              </a:rPr>
              <a:t>Educação</a:t>
            </a:r>
            <a:r>
              <a:rPr lang="en-US" sz="1100" dirty="0">
                <a:solidFill>
                  <a:srgbClr val="9AA0B4"/>
                </a:solidFill>
              </a:rPr>
              <a:t> Digital e </a:t>
            </a:r>
            <a:r>
              <a:rPr lang="en-US" sz="1100" dirty="0" err="1">
                <a:solidFill>
                  <a:srgbClr val="9AA0B4"/>
                </a:solidFill>
              </a:rPr>
              <a:t>Midiática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77240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3A3D4A"/>
                </a:solidFill>
              </a:rPr>
              <a:t>07 / 07</a:t>
            </a:r>
            <a:endParaRPr lang="en-US" sz="1000" dirty="0"/>
          </a:p>
        </p:txBody>
      </p:sp>
      <p:sp>
        <p:nvSpPr>
          <p:cNvPr id="12" name="Shape 7">
            <a:extLst>
              <a:ext uri="{FF2B5EF4-FFF2-40B4-BE49-F238E27FC236}">
                <a16:creationId xmlns:a16="http://schemas.microsoft.com/office/drawing/2014/main" id="{20BBAEB3-C472-4693-B13D-70406F7D5762}"/>
              </a:ext>
            </a:extLst>
          </p:cNvPr>
          <p:cNvSpPr/>
          <p:nvPr/>
        </p:nvSpPr>
        <p:spPr>
          <a:xfrm>
            <a:off x="5212079" y="3291840"/>
            <a:ext cx="3288825" cy="347472"/>
          </a:xfrm>
          <a:prstGeom prst="roundRect">
            <a:avLst>
              <a:gd name="adj" fmla="val 50000"/>
            </a:avLst>
          </a:prstGeom>
          <a:solidFill>
            <a:srgbClr val="1A1D27"/>
          </a:solidFill>
          <a:ln w="6350">
            <a:solidFill>
              <a:srgbClr val="3A3D4A"/>
            </a:solidFill>
            <a:prstDash val="solid"/>
          </a:ln>
        </p:spPr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532C6846-D12D-4952-828A-B5C454373B52}"/>
              </a:ext>
            </a:extLst>
          </p:cNvPr>
          <p:cNvSpPr txBox="1"/>
          <p:nvPr/>
        </p:nvSpPr>
        <p:spPr>
          <a:xfrm>
            <a:off x="5212080" y="3334771"/>
            <a:ext cx="328882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9AA0B4"/>
                </a:solidFill>
              </a:rPr>
              <a:t>Componentes</a:t>
            </a:r>
            <a:r>
              <a:rPr lang="en-US" sz="1100" dirty="0">
                <a:solidFill>
                  <a:srgbClr val="9AA0B4"/>
                </a:solidFill>
              </a:rPr>
              <a:t>: Emanuel Víctor e Henrique Cesar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358</Words>
  <Application>Microsoft Office PowerPoint</Application>
  <PresentationFormat>Apresentação na tela (16:9)</PresentationFormat>
  <Paragraphs>73</Paragraphs>
  <Slides>7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(corpo)</vt:lpstr>
      <vt:lpstr>Google Sans</vt:lpstr>
      <vt:lpstr>Trebuchet MS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InclúiDigital</dc:title>
  <dc:subject>PptxGenJS Presentation</dc:subject>
  <dc:creator>PptxGenJS</dc:creator>
  <cp:lastModifiedBy>Suerda</cp:lastModifiedBy>
  <cp:revision>2</cp:revision>
  <dcterms:created xsi:type="dcterms:W3CDTF">2026-04-17T20:41:32Z</dcterms:created>
  <dcterms:modified xsi:type="dcterms:W3CDTF">2026-04-17T21:09:52Z</dcterms:modified>
</cp:coreProperties>
</file>